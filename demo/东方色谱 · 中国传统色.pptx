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5240000" cy="8572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8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欢迎翻开这一册《东方色谱》。这是一场关于颜色的旅行，十二种来自东方的颜色，像十二次呼吸。不必着急，慢慢翻。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中国人给颜色起名字，从来不编号。他们看月、看山、看雨后的天、看松烟烧过的墨，于是每一种颜色，都有了自己的体温。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第一个颜色，月白。它不是白，是蓝得非常小心的白。古人看见月光落在未经漂白的绢上，就把那一点冷意留了下来，做成衣衫。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第二个颜色，天青。传说宋徽宗梦见雨过天晴的颜色，醒来后要工匠烧出梦里的那一瞬。天青在蓝与绿之间，像瓷器上久久不散的水气。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第三个颜色，竹青。它不是成熟的绿，是新竹尚未褪去的那一点鹅黄。古人说新竹高于旧竹枝，便拿这个颜色比作少年。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第四个颜色，石绿。它来自一种叫孔雀石的矿石，磨成粉末，画在敦煌的壁画上。矿物色不会褪去，所以一千年后，我们还能看见那时的飞天穿着它。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第五个颜色，秋香。它是黄里带绿、绿里藏褐的一种复杂味道，像深秋的桂花快要散尽时。这种颜色不张扬，但很讲究。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第六个颜色，缃色。古人用淡黄色的丝帛做书的封套，所以后来，缃帙两个字就成了书的别称。这是一种闻起来有墨与纸味道的颜色。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第七个颜色，藕荷。紫被稀释之后剩下的那一点灰粉，冷里带甜。东方审美里有一种高级，叫退一步，藕荷就是那一步。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第八个颜色，胭脂。它取自一种叫红蓝花的花，晒成小饼，用水化开，就成了妆色。但它不只属于女子的唇，也属于信纸上晕开的那滴泪。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第九个颜色，朱砂。它来自矿物辰砂，沉重而稳定。皇帝拿它批奏折，画家在整幅水墨快画完时，用它点上最提神的一笔。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第十个颜色，赭石。赭，就是红色的土。岩壁上的岩画、夯土的墙、老僧的袈裟，都是这个颜色。它最古老，也最沉默。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第十一个颜色，黛蓝。黛本是画眉的颜料，把它从眉间放回天地，就成了黄昏时远山的轮廓。它很远，所以才好看。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最后一个颜色，玄色。千字文的第一句，天地玄黄。玄是黑里透红，是天快亮之前那一刻最深的颜色。它不结束什么，它开始一切。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这是十二种颜色聚在一起的样子。它们彼此并不争辩，只是安静地挨着。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愿你此后看天、看水、看一面旧墙，都能叫出它们的名字。谢谢观看。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232024"/>
              </a:gs>
              <a:gs pos="100000">
                <a:srgbClr val="0E0E1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515350"/>
            <a:ext cx="1279525" cy="76200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70000" y="8515350"/>
            <a:ext cx="1279525" cy="76200"/>
          </a:xfrm>
          <a:prstGeom prst="rect">
            <a:avLst/>
          </a:prstGeom>
          <a:solidFill>
            <a:srgbClr val="8FB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40000" y="8515350"/>
            <a:ext cx="1279525" cy="76200"/>
          </a:xfrm>
          <a:prstGeom prst="rect">
            <a:avLst/>
          </a:prstGeom>
          <a:solidFill>
            <a:srgbClr val="789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10000" y="8515350"/>
            <a:ext cx="1279525" cy="76200"/>
          </a:xfrm>
          <a:prstGeom prst="rect">
            <a:avLst/>
          </a:prstGeom>
          <a:solidFill>
            <a:srgbClr val="2F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80000" y="8515350"/>
            <a:ext cx="1279525" cy="76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0000" y="8515350"/>
            <a:ext cx="1279525" cy="76200"/>
          </a:xfrm>
          <a:prstGeom prst="rect">
            <a:avLst/>
          </a:prstGeom>
          <a:solidFill>
            <a:srgbClr val="F0C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0" y="8515350"/>
            <a:ext cx="1279525" cy="76200"/>
          </a:xfrm>
          <a:prstGeom prst="rect">
            <a:avLst/>
          </a:prstGeom>
          <a:solidFill>
            <a:srgbClr val="E4C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890000" y="8515350"/>
            <a:ext cx="1279525" cy="76200"/>
          </a:xfrm>
          <a:prstGeom prst="rect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160000" y="8515350"/>
            <a:ext cx="1279525" cy="76200"/>
          </a:xfrm>
          <a:prstGeom prst="rect">
            <a:avLst/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0" y="8515350"/>
            <a:ext cx="1279525" cy="76200"/>
          </a:xfrm>
          <a:prstGeom prst="rect">
            <a:avLst/>
          </a:prstGeom>
          <a:solidFill>
            <a:srgbClr val="8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700000" y="8515350"/>
            <a:ext cx="1279525" cy="76200"/>
          </a:xfrm>
          <a:prstGeom prst="rect">
            <a:avLst/>
          </a:prstGeom>
          <a:solidFill>
            <a:srgbClr val="2E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970000" y="8515350"/>
            <a:ext cx="1279525" cy="7620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3143250"/>
            <a:ext cx="152400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0" b="0" spc="1848">
                <a:solidFill>
                  <a:srgbClr val="F3EDE3"/>
                </a:solidFill>
                <a:latin typeface="Georgia"/>
                <a:ea typeface="宋体"/>
                <a:cs typeface="Georgia"/>
              </a:rPr>
              <a:t>东方色谱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953000"/>
            <a:ext cx="1524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spc="750">
                <a:solidFill>
                  <a:srgbClr val="B9AE9C"/>
                </a:solidFill>
                <a:latin typeface="Georgia"/>
                <a:ea typeface="宋体"/>
                <a:cs typeface="Georgia"/>
              </a:rPr>
              <a:t>ORIENTAL PALETTE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638800"/>
            <a:ext cx="1524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spc="578">
                <a:solidFill>
                  <a:srgbClr val="8E8677"/>
                </a:solidFill>
                <a:latin typeface="Georgia"/>
                <a:ea typeface="楷体"/>
                <a:cs typeface="Georgia"/>
              </a:rPr>
              <a:t>十二次关于颜色的停留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73100" y="914400"/>
            <a:ext cx="914400" cy="914400"/>
          </a:xfrm>
          <a:prstGeom prst="rect">
            <a:avLst/>
          </a:prstGeom>
          <a:noFill/>
          <a:ln w="9525">
            <a:solidFill>
              <a:srgbClr val="3A3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73100" y="1238250"/>
            <a:ext cx="914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90000"/>
              </a:lnSpc>
            </a:pPr>
            <a:r>
              <a:rPr sz="1000" b="0">
                <a:solidFill>
                  <a:srgbClr val="C9BFAE"/>
                </a:solidFill>
                <a:latin typeface="Georgia"/>
                <a:ea typeface="宋体"/>
                <a:cs typeface="Georgia"/>
              </a:rPr>
              <a:t>中 国</a:t>
            </a:r>
          </a:p>
          <a:p>
            <a:pPr algn="ctr">
              <a:lnSpc>
                <a:spcPct val="190000"/>
              </a:lnSpc>
            </a:pPr>
            <a:r>
              <a:rPr sz="1000" b="0">
                <a:solidFill>
                  <a:srgbClr val="C9BFAE"/>
                </a:solidFill>
                <a:latin typeface="Georgia"/>
                <a:ea typeface="宋体"/>
                <a:cs typeface="Georgia"/>
              </a:rPr>
              <a:t>传 统 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952500"/>
            <a:ext cx="857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90">
                <a:solidFill>
                  <a:srgbClr val="5B574E"/>
                </a:solidFill>
                <a:latin typeface="Georgia"/>
                <a:ea typeface="微软雅黑"/>
                <a:cs typeface="Georgia"/>
              </a:rPr>
              <a:t>背景音乐：assets / bgm.wav　（可在 PPT 中插入音频，设为跨幻灯片循环播放）</a:t>
            </a:r>
          </a:p>
        </p:txBody>
      </p:sp>
      <p:pic>
        <p:nvPicPr>
          <p:cNvPr id="21" name="bgm">
            <a:hlinkClick r:id="" action="ppaction://media"/>
            <a:extLst>
              <a:ext uri="{FF2B5EF4-FFF2-40B4-BE49-F238E27FC236}">
                <a16:creationId xmlns:a16="http://schemas.microsoft.com/office/drawing/2014/main" id="{B3BA7403-FDB0-60EF-E042-9E21549424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831106" y="8162925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3EDDF"/>
              </a:gs>
              <a:gs pos="100000">
                <a:srgbClr val="DCD2BC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90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spc="360">
                <a:solidFill>
                  <a:srgbClr val="58534A"/>
                </a:solidFill>
                <a:latin typeface="Georgia"/>
                <a:ea typeface="宋体"/>
                <a:cs typeface="Georgia"/>
              </a:rPr>
              <a:t>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19200"/>
            <a:ext cx="11430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0" spc="560">
                <a:solidFill>
                  <a:srgbClr val="3E3626"/>
                </a:solidFill>
                <a:latin typeface="Georgia"/>
                <a:ea typeface="宋体"/>
                <a:cs typeface="Georgia"/>
              </a:rPr>
              <a:t>颜色，是时间的语言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152650"/>
            <a:ext cx="762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spc="256">
                <a:solidFill>
                  <a:srgbClr val="5B574E"/>
                </a:solidFill>
                <a:latin typeface="Georgia"/>
                <a:ea typeface="楷体"/>
                <a:cs typeface="Georgia"/>
              </a:rPr>
              <a:t>关于命名的一桩旧事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857500"/>
            <a:ext cx="9525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900" b="0">
                <a:solidFill>
                  <a:srgbClr val="362F21"/>
                </a:solidFill>
                <a:latin typeface="Georgia"/>
                <a:ea typeface="楷体"/>
                <a:cs typeface="Georgia"/>
              </a:rPr>
              <a:t>潘通配色系统将色彩编号为 19-4052，而中国人只是抬头看了看天——</a:t>
            </a:r>
          </a:p>
          <a:p>
            <a:pPr algn="l">
              <a:lnSpc>
                <a:spcPct val="190000"/>
              </a:lnSpc>
            </a:pPr>
            <a:r>
              <a:rPr sz="1900" b="0">
                <a:solidFill>
                  <a:srgbClr val="362F21"/>
                </a:solidFill>
                <a:latin typeface="Georgia"/>
                <a:ea typeface="楷体"/>
                <a:cs typeface="Georgia"/>
              </a:rPr>
              <a:t>「雨过天晴云破处」，于是有了天青；光照落在绢上，于是有了月白。</a:t>
            </a:r>
          </a:p>
          <a:p>
            <a:pPr algn="l">
              <a:lnSpc>
                <a:spcPct val="190000"/>
              </a:lnSpc>
            </a:pPr>
            <a:r>
              <a:rPr sz="1900" b="0">
                <a:solidFill>
                  <a:srgbClr val="362F21"/>
                </a:solidFill>
                <a:latin typeface="Georgia"/>
                <a:ea typeface="楷体"/>
                <a:cs typeface="Georgia"/>
              </a:rPr>
              <a:t>在被定义之前，颜色先被看见。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096000"/>
            <a:ext cx="4257675" cy="9525"/>
          </a:xfrm>
          <a:prstGeom prst="rect">
            <a:avLst/>
          </a:prstGeom>
          <a:solidFill>
            <a:srgbClr val="A8A4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6286500"/>
            <a:ext cx="42576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spc="240">
                <a:solidFill>
                  <a:srgbClr val="3E3626"/>
                </a:solidFill>
                <a:latin typeface="Georgia"/>
                <a:ea typeface="宋体"/>
                <a:cs typeface="Georgia"/>
              </a:rPr>
              <a:t>观物取色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819900"/>
            <a:ext cx="42576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月下者为月白，雨后为天青，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苔痕成石绿，赤土即赭石。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675" y="6096000"/>
            <a:ext cx="4257675" cy="9525"/>
          </a:xfrm>
          <a:prstGeom prst="rect">
            <a:avLst/>
          </a:prstGeom>
          <a:solidFill>
            <a:srgbClr val="A8A4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675" y="6286500"/>
            <a:ext cx="42576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spc="240">
                <a:solidFill>
                  <a:srgbClr val="3E3626"/>
                </a:solidFill>
                <a:latin typeface="Georgia"/>
                <a:ea typeface="宋体"/>
                <a:cs typeface="Georgia"/>
              </a:rPr>
              <a:t>以诗命名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675" y="6819900"/>
            <a:ext cx="42576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一色一名皆成意象，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念出名字，颜色便有了画面。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39350" y="6096000"/>
            <a:ext cx="4257675" cy="9525"/>
          </a:xfrm>
          <a:prstGeom prst="rect">
            <a:avLst/>
          </a:prstGeom>
          <a:solidFill>
            <a:srgbClr val="A8A4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9350" y="6286500"/>
            <a:ext cx="425767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spc="240">
                <a:solidFill>
                  <a:srgbClr val="3E3626"/>
                </a:solidFill>
                <a:latin typeface="Georgia"/>
                <a:ea typeface="宋体"/>
                <a:cs typeface="Georgia"/>
              </a:rPr>
              <a:t>五色成礼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9350" y="6819900"/>
            <a:ext cx="42576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青赤黄白黑，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514C41"/>
                </a:solidFill>
                <a:latin typeface="Georgia"/>
                <a:ea typeface="楷体"/>
                <a:cs typeface="Georgia"/>
              </a:rPr>
              <a:t>与五行、五方、四时相配。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5B574E"/>
                </a:solidFill>
                <a:latin typeface="Georgia"/>
                <a:ea typeface="微软雅黑"/>
                <a:cs typeface="Georgia"/>
              </a:rPr>
              <a:t>东方色谱 · ORIENTAL PALETTE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5B574E"/>
                </a:solidFill>
                <a:latin typeface="Georgia"/>
                <a:ea typeface="楷体"/>
                <a:cs typeface="Georgia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ECF6F8"/>
              </a:gs>
              <a:gs pos="100000">
                <a:srgbClr val="BCCFD3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AFC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AFC1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C0D4D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31454E"/>
                </a:solidFill>
                <a:latin typeface="Georgia"/>
                <a:ea typeface="宋体"/>
                <a:cs typeface="Georgia"/>
              </a:rPr>
              <a:t>月 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233138"/>
                </a:solidFill>
                <a:latin typeface="Georgia"/>
                <a:ea typeface="宋体"/>
                <a:cs typeface="Georgia"/>
              </a:rPr>
              <a:t>yuè bái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1A252A"/>
                </a:solidFill>
                <a:latin typeface="Georgia"/>
                <a:ea typeface="微软雅黑"/>
                <a:cs typeface="Georgia"/>
              </a:rPr>
              <a:t>#D6ECF0　·　R214 G236 B240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31454E"/>
                </a:solidFill>
                <a:latin typeface="Georgia"/>
                <a:ea typeface="楷体"/>
                <a:cs typeface="Georgia"/>
              </a:rPr>
              <a:t>月光落在素练之上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1D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26353C"/>
                </a:solidFill>
                <a:latin typeface="Georgia"/>
                <a:ea typeface="楷体"/>
                <a:cs typeface="Georgia"/>
              </a:rPr>
              <a:t>月白不是纯白，而是蓝到几乎看不见的一点冷意。清人以此色做常服与衫子，取其清而不寒、素而不寡——穿在身上，像把一小片夜色披了出去。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EAF4F6"/>
          </a:solidFill>
          <a:ln w="9525">
            <a:solidFill>
              <a:srgbClr val="CDD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#EAF4F6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C3DFE4"/>
          </a:solidFill>
          <a:ln w="9525">
            <a:solidFill>
              <a:srgbClr val="ABC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#C3DFE4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A9CBD1"/>
          </a:solidFill>
          <a:ln w="9525">
            <a:solidFill>
              <a:srgbClr val="94B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#A9CBD1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1F2C32"/>
                </a:solidFill>
                <a:latin typeface="Georgia"/>
                <a:ea typeface="宋体"/>
                <a:cs typeface="Georgia"/>
              </a:rPr>
              <a:t>01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545F64"/>
                </a:solidFill>
                <a:latin typeface="Georgia"/>
                <a:ea typeface="微软雅黑"/>
                <a:cs typeface="Georgia"/>
              </a:rPr>
              <a:t>月白　·　yuè bái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545F64"/>
                </a:solidFill>
                <a:latin typeface="Georgia"/>
                <a:ea typeface="楷体"/>
                <a:cs typeface="Georgia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B6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A3C3C4"/>
              </a:gs>
              <a:gs pos="100000">
                <a:srgbClr val="4E646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B6C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B6C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B0CBC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F4FBFA"/>
                </a:solidFill>
                <a:latin typeface="Georgia"/>
                <a:ea typeface="宋体"/>
                <a:cs typeface="Georgia"/>
              </a:rPr>
              <a:t>天 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7FCFB"/>
                </a:solidFill>
                <a:latin typeface="Georgia"/>
                <a:ea typeface="宋体"/>
                <a:cs typeface="Georgia"/>
              </a:rPr>
              <a:t>tiān qīng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8FCFC"/>
                </a:solidFill>
                <a:latin typeface="Georgia"/>
                <a:ea typeface="微软雅黑"/>
                <a:cs typeface="Georgia"/>
              </a:rPr>
              <a:t>#8FB6B8　·　R143 G182 B184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F4FBFA"/>
                </a:solidFill>
                <a:latin typeface="Georgia"/>
                <a:ea typeface="楷体"/>
                <a:cs typeface="Georgia"/>
              </a:rPr>
              <a:t>雨过天晴云破处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8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6FBFB"/>
                </a:solidFill>
                <a:latin typeface="Georgia"/>
                <a:ea typeface="楷体"/>
                <a:cs typeface="Georgia"/>
              </a:rPr>
              <a:t>相传宋徽宗梦中见到雨过天晴的颜色，醒来便命汝窑烧造此色。天青介于蓝与绿之间，温润如玉，是瓷器史上最难留住的那一瞬天光。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A9C9C9"/>
          </a:solidFill>
          <a:ln w="9525">
            <a:solidFill>
              <a:srgbClr val="C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#A9C9C9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6F9EA1"/>
          </a:solidFill>
          <a:ln w="9525">
            <a:solidFill>
              <a:srgbClr val="A1B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#6F9EA1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C9DEDD"/>
          </a:solidFill>
          <a:ln w="9525">
            <a:solidFill>
              <a:srgbClr val="DBE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#C9DEDD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7FCFB"/>
                </a:solidFill>
                <a:latin typeface="Georgia"/>
                <a:ea typeface="宋体"/>
                <a:cs typeface="Georgia"/>
              </a:rPr>
              <a:t>02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BFC3C3"/>
                </a:solidFill>
                <a:latin typeface="Georgia"/>
                <a:ea typeface="微软雅黑"/>
                <a:cs typeface="Georgia"/>
              </a:rPr>
              <a:t>天青　·　tiān qīng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FC3C3"/>
                </a:solidFill>
                <a:latin typeface="Georgia"/>
                <a:ea typeface="楷体"/>
                <a:cs typeface="Georgia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9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90A57E"/>
              </a:gs>
              <a:gs pos="100000">
                <a:srgbClr val="42503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A7B8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A7B8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A0B2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F3F6EC"/>
                </a:solidFill>
                <a:latin typeface="Georgia"/>
                <a:ea typeface="宋体"/>
                <a:cs typeface="Georgia"/>
              </a:rPr>
              <a:t>竹 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6F8F1"/>
                </a:solidFill>
                <a:latin typeface="Georgia"/>
                <a:ea typeface="宋体"/>
                <a:cs typeface="Georgia"/>
              </a:rPr>
              <a:t>zhú qīng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8FAF4"/>
                </a:solidFill>
                <a:latin typeface="Georgia"/>
                <a:ea typeface="微软雅黑"/>
                <a:cs typeface="Georgia"/>
              </a:rPr>
              <a:t>#789262　·　R120 G146 B98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F3F6EC"/>
                </a:solidFill>
                <a:latin typeface="Georgia"/>
                <a:ea typeface="楷体"/>
                <a:cs typeface="Georgia"/>
              </a:rPr>
              <a:t>新竹高于旧竹枝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7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5F7F0"/>
                </a:solidFill>
                <a:latin typeface="Georgia"/>
                <a:ea typeface="楷体"/>
                <a:cs typeface="Georgia"/>
              </a:rPr>
              <a:t>竹青里带着一点黄，是植物尚未老去时的绿。它不像松柏那样沉稳，也不似嫩柳那般轻佻，古人以之比少年：有节，且还在往上长。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8FA673"/>
          </a:solidFill>
          <a:ln w="9525">
            <a:solidFill>
              <a:srgbClr val="B6C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#8FA673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5F7A4E"/>
          </a:solidFill>
          <a:ln w="9525">
            <a:solidFill>
              <a:srgbClr val="97A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#5F7A4E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A8BC8E"/>
          </a:solidFill>
          <a:ln w="9525">
            <a:solidFill>
              <a:srgbClr val="C6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#A8BC8E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7F9F2"/>
                </a:solidFill>
                <a:latin typeface="Georgia"/>
                <a:ea typeface="宋体"/>
                <a:cs typeface="Georgia"/>
              </a:rPr>
              <a:t>03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BFC0BB"/>
                </a:solidFill>
                <a:latin typeface="Georgia"/>
                <a:ea typeface="微软雅黑"/>
                <a:cs typeface="Georgia"/>
              </a:rPr>
              <a:t>竹青　·　zhú qīng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FC0BB"/>
                </a:solidFill>
                <a:latin typeface="Georgia"/>
                <a:ea typeface="楷体"/>
                <a:cs typeface="Georgia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A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54B391"/>
              </a:gs>
              <a:gs pos="100000">
                <a:srgbClr val="195942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77C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77C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6DBEA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EFFAF4"/>
                </a:solidFill>
                <a:latin typeface="Georgia"/>
                <a:ea typeface="宋体"/>
                <a:cs typeface="Georgia"/>
              </a:rPr>
              <a:t>石 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3FBF7"/>
                </a:solidFill>
                <a:latin typeface="Georgia"/>
                <a:ea typeface="宋体"/>
                <a:cs typeface="Georgia"/>
              </a:rPr>
              <a:t>shí lǜ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6FCF8"/>
                </a:solidFill>
                <a:latin typeface="Georgia"/>
                <a:ea typeface="微软雅黑"/>
                <a:cs typeface="Georgia"/>
              </a:rPr>
              <a:t>#2FA379　·　R47 G163 B121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EFFAF4"/>
                </a:solidFill>
                <a:latin typeface="Georgia"/>
                <a:ea typeface="楷体"/>
                <a:cs typeface="Georgia"/>
              </a:rPr>
              <a:t>青苔写在石头上的字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5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2FBF6"/>
                </a:solidFill>
                <a:latin typeface="Georgia"/>
                <a:ea typeface="楷体"/>
                <a:cs typeface="Georgia"/>
              </a:rPr>
              <a:t>石绿由孔雀石研磨而来。敦煌壁画里飞天的裙裾、青绿山水中层层叠叠的山峦，都是它。矿物之色不随年月褪去，千年之后仍在缓慢呼吸。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57B88F"/>
          </a:solidFill>
          <a:ln w="9525">
            <a:solidFill>
              <a:srgbClr val="91D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#57B88F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1F7A5B"/>
          </a:solidFill>
          <a:ln w="9525">
            <a:solidFill>
              <a:srgbClr val="6DA8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#1F7A5B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86D0B2"/>
          </a:solidFill>
          <a:ln w="9525">
            <a:solidFill>
              <a:srgbClr val="B0E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#86D0B2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4FBF7"/>
                </a:solidFill>
                <a:latin typeface="Georgia"/>
                <a:ea typeface="宋体"/>
                <a:cs typeface="Georgia"/>
              </a:rPr>
              <a:t>04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BDC3BF"/>
                </a:solidFill>
                <a:latin typeface="Georgia"/>
                <a:ea typeface="微软雅黑"/>
                <a:cs typeface="Georgia"/>
              </a:rPr>
              <a:t>石绿　·　shí lǜ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DC3BF"/>
                </a:solidFill>
                <a:latin typeface="Georgia"/>
                <a:ea typeface="楷体"/>
                <a:cs typeface="Georgia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A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E6D59D"/>
              </a:gs>
              <a:gs pos="100000">
                <a:srgbClr val="B08E22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A48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A48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B4912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3E2C10"/>
                </a:solidFill>
                <a:latin typeface="Georgia"/>
                <a:ea typeface="宋体"/>
                <a:cs typeface="Georgia"/>
              </a:rPr>
              <a:t>秋 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2C1F0B"/>
                </a:solidFill>
                <a:latin typeface="Georgia"/>
                <a:ea typeface="宋体"/>
                <a:cs typeface="Georgia"/>
              </a:rPr>
              <a:t>qiū xiāng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221808"/>
                </a:solidFill>
                <a:latin typeface="Georgia"/>
                <a:ea typeface="微软雅黑"/>
                <a:cs typeface="Georgia"/>
              </a:rPr>
              <a:t>#C9A227　·　R201 G162 B39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3E2C10"/>
                </a:solidFill>
                <a:latin typeface="Georgia"/>
                <a:ea typeface="楷体"/>
                <a:cs typeface="Georgia"/>
              </a:rPr>
              <a:t>把整个秋天揉进一片叶子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251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30220C"/>
                </a:solidFill>
                <a:latin typeface="Georgia"/>
                <a:ea typeface="楷体"/>
                <a:cs typeface="Georgia"/>
              </a:rPr>
              <a:t>秋香是黄里带绿、绿里又藏一点褐的复杂颜色，恰如深秋的桂香散尽之后。明清织绣常用此色，是富而不显的那种体面。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D9BE5A"/>
          </a:solidFill>
          <a:ln w="9525">
            <a:solidFill>
              <a:srgbClr val="BEA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#D9BE5A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A78522"/>
          </a:solidFill>
          <a:ln w="9525">
            <a:solidFill>
              <a:srgbClr val="927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#A78522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E4D59A"/>
          </a:solidFill>
          <a:ln w="9525">
            <a:solidFill>
              <a:srgbClr val="C8B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#E4D59A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281C0A"/>
                </a:solidFill>
                <a:latin typeface="Georgia"/>
                <a:ea typeface="宋体"/>
                <a:cs typeface="Georgia"/>
              </a:rPr>
              <a:t>05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5B5142"/>
                </a:solidFill>
                <a:latin typeface="Georgia"/>
                <a:ea typeface="微软雅黑"/>
                <a:cs typeface="Georgia"/>
              </a:rPr>
              <a:t>秋香　·　qiū xiāng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5B5142"/>
                </a:solidFill>
                <a:latin typeface="Georgia"/>
                <a:ea typeface="楷体"/>
                <a:cs typeface="Georgia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8E3A5"/>
              </a:gs>
              <a:gs pos="100000">
                <a:srgbClr val="D3AA32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C49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C49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D8AE3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4A3410"/>
                </a:solidFill>
                <a:latin typeface="Georgia"/>
                <a:ea typeface="宋体"/>
                <a:cs typeface="Georgia"/>
              </a:rPr>
              <a:t>缃 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35250B"/>
                </a:solidFill>
                <a:latin typeface="Georgia"/>
                <a:ea typeface="宋体"/>
                <a:cs typeface="Georgia"/>
              </a:rPr>
              <a:t>xiāng sè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281C08"/>
                </a:solidFill>
                <a:latin typeface="Georgia"/>
                <a:ea typeface="微软雅黑"/>
                <a:cs typeface="Georgia"/>
              </a:rPr>
              <a:t>#F0C239　·　R240 G194 B57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4A3410"/>
                </a:solidFill>
                <a:latin typeface="Georgia"/>
                <a:ea typeface="楷体"/>
                <a:cs typeface="Georgia"/>
              </a:rPr>
              <a:t>书卷翻开的颜色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2C1F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39280C"/>
                </a:solidFill>
                <a:latin typeface="Georgia"/>
                <a:ea typeface="楷体"/>
                <a:cs typeface="Georgia"/>
              </a:rPr>
              <a:t>缃，浅黄色的帛。古人以缃色布帛做书衣，于是「缃帙」成了书的代称。它比黄金温和，比泥土明亮，是一间书房本来的样子。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F5D566"/>
          </a:solidFill>
          <a:ln w="9525">
            <a:solidFill>
              <a:srgbClr val="D7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#F5D566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D3A023"/>
          </a:solidFill>
          <a:ln w="9525">
            <a:solidFill>
              <a:srgbClr val="B98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#D3A023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FBE9A8"/>
          </a:solidFill>
          <a:ln w="9525">
            <a:solidFill>
              <a:srgbClr val="DCCD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#FBE9A8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30210A"/>
                </a:solidFill>
                <a:latin typeface="Georgia"/>
                <a:ea typeface="宋体"/>
                <a:cs typeface="Georgia"/>
              </a:rPr>
              <a:t>06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625642"/>
                </a:solidFill>
                <a:latin typeface="Georgia"/>
                <a:ea typeface="微软雅黑"/>
                <a:cs typeface="Georgia"/>
              </a:rPr>
              <a:t>缃色　·　xiāng sè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625642"/>
                </a:solidFill>
                <a:latin typeface="Georgia"/>
                <a:ea typeface="楷体"/>
                <a:cs typeface="Georgia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C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2E5E9"/>
              </a:gs>
              <a:gs pos="100000">
                <a:srgbClr val="C8AEB7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BAA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BAA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CDB2B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4A3038"/>
                </a:solidFill>
                <a:latin typeface="Georgia"/>
                <a:ea typeface="宋体"/>
                <a:cs typeface="Georgia"/>
              </a:rPr>
              <a:t>藕 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352228"/>
                </a:solidFill>
                <a:latin typeface="Georgia"/>
                <a:ea typeface="宋体"/>
                <a:cs typeface="Georgia"/>
              </a:rPr>
              <a:t>ǒu hé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281A1E"/>
                </a:solidFill>
                <a:latin typeface="Georgia"/>
                <a:ea typeface="微软雅黑"/>
                <a:cs typeface="Georgia"/>
              </a:rPr>
              <a:t>#E4C6D0　·　R228 G198 B208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4A3038"/>
                </a:solidFill>
                <a:latin typeface="Georgia"/>
                <a:ea typeface="楷体"/>
                <a:cs typeface="Georgia"/>
              </a:rPr>
              <a:t>荷塘深处的那一声低语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2C1C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39252B"/>
                </a:solidFill>
                <a:latin typeface="Georgia"/>
                <a:ea typeface="楷体"/>
                <a:cs typeface="Georgia"/>
              </a:rPr>
              <a:t>藕荷是紫色被稀释之后留下的那一点灰，冷里带甜。晚清的瓷器、闺阁的衣饰格外偏爱它——东方审美的要义，往往就在这退让的一步。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EED8DF"/>
          </a:solidFill>
          <a:ln w="9525">
            <a:solidFill>
              <a:srgbClr val="D1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#EED8DF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C9A3B2"/>
          </a:solidFill>
          <a:ln w="9525">
            <a:solidFill>
              <a:srgbClr val="B08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#C9A3B2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F2E6EA"/>
          </a:solidFill>
          <a:ln w="9525">
            <a:solidFill>
              <a:srgbClr val="D4CA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2B2B2B"/>
                </a:solidFill>
                <a:latin typeface="Georgia"/>
                <a:ea typeface="微软雅黑"/>
                <a:cs typeface="Georgia"/>
              </a:rPr>
              <a:t>#F2E6EA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301F24"/>
                </a:solidFill>
                <a:latin typeface="Georgia"/>
                <a:ea typeface="宋体"/>
                <a:cs typeface="Georgia"/>
              </a:rPr>
              <a:t>07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625458"/>
                </a:solidFill>
                <a:latin typeface="Georgia"/>
                <a:ea typeface="微软雅黑"/>
                <a:cs typeface="Georgia"/>
              </a:rPr>
              <a:t>藕荷　·　ǒu 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625458"/>
                </a:solidFill>
                <a:latin typeface="Georgia"/>
                <a:ea typeface="楷体"/>
                <a:cs typeface="Georgia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AE4F57"/>
              </a:gs>
              <a:gs pos="100000">
                <a:srgbClr val="56161C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BF7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BF7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BA6970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F8E9E9"/>
                </a:solidFill>
                <a:latin typeface="Georgia"/>
                <a:ea typeface="宋体"/>
                <a:cs typeface="Georgia"/>
              </a:rPr>
              <a:t>胭 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9EFEF"/>
                </a:solidFill>
                <a:latin typeface="Georgia"/>
                <a:ea typeface="宋体"/>
                <a:cs typeface="Georgia"/>
              </a:rPr>
              <a:t>yān zhī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BF2F2"/>
                </a:solidFill>
                <a:latin typeface="Georgia"/>
                <a:ea typeface="微软雅黑"/>
                <a:cs typeface="Georgia"/>
              </a:rPr>
              <a:t>#9D2933　·　R157 G41 B51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F8E9E9"/>
                </a:solidFill>
                <a:latin typeface="Georgia"/>
                <a:ea typeface="楷体"/>
                <a:cs typeface="Georgia"/>
              </a:rPr>
              <a:t>一点朱红落在唇上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A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9EDED"/>
                </a:solidFill>
                <a:latin typeface="Georgia"/>
                <a:ea typeface="楷体"/>
                <a:cs typeface="Georgia"/>
              </a:rPr>
              <a:t>取自红蓝花之汁，晒而为饼，温水化开即为妆色。它并不只属于女子：信笺上的泪痕、陌上的暮色，也都用这同一个名字。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B3454F"/>
          </a:solidFill>
          <a:ln w="9525">
            <a:solidFill>
              <a:srgbClr val="CD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#B3454F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7C1E27"/>
          </a:solidFill>
          <a:ln w="9525">
            <a:solidFill>
              <a:srgbClr val="A96C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#7C1E27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C8737C"/>
          </a:solidFill>
          <a:ln w="9525">
            <a:solidFill>
              <a:srgbClr val="DBA4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#C8737C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AF0F0"/>
                </a:solidFill>
                <a:latin typeface="Georgia"/>
                <a:ea typeface="宋体"/>
                <a:cs typeface="Georgia"/>
              </a:rPr>
              <a:t>08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C2B9B9"/>
                </a:solidFill>
                <a:latin typeface="Georgia"/>
                <a:ea typeface="微软雅黑"/>
                <a:cs typeface="Georgia"/>
              </a:rPr>
              <a:t>胭脂　·　yān zhī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C2B9B9"/>
                </a:solidFill>
                <a:latin typeface="Georgia"/>
                <a:ea typeface="楷体"/>
                <a:cs typeface="Georgia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CD4D51"/>
              </a:gs>
              <a:gs pos="100000">
                <a:srgbClr val="6B1517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D872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D872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D5676A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FFF3EF"/>
                </a:solidFill>
                <a:latin typeface="Georgia"/>
                <a:ea typeface="宋体"/>
                <a:cs typeface="Georgia"/>
              </a:rPr>
              <a:t>朱 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FF6F3"/>
                </a:solidFill>
                <a:latin typeface="Georgia"/>
                <a:ea typeface="宋体"/>
                <a:cs typeface="Georgia"/>
              </a:rPr>
              <a:t>zhū shā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FF8F6"/>
                </a:solidFill>
                <a:latin typeface="Georgia"/>
                <a:ea typeface="微软雅黑"/>
                <a:cs typeface="Georgia"/>
              </a:rPr>
              <a:t>#C3272B　·　R195 G39 B43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FFF3EF"/>
                </a:solidFill>
                <a:latin typeface="Georgia"/>
                <a:ea typeface="楷体"/>
                <a:cs typeface="Georgia"/>
              </a:rPr>
              <a:t>宫墙与印章的颜色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FF5F2"/>
                </a:solidFill>
                <a:latin typeface="Georgia"/>
                <a:ea typeface="楷体"/>
                <a:cs typeface="Georgia"/>
              </a:rPr>
              <a:t>朱砂由辰砂研磨而成，沉重、稳定、不容置疑。皇帝用它批阅奏折，画家在整幅水墨将完成时，用它点上最后的一笔清醒。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D94848"/>
          </a:solidFill>
          <a:ln w="9525">
            <a:solidFill>
              <a:srgbClr val="E6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#D94848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9E1F22"/>
          </a:solidFill>
          <a:ln w="9525">
            <a:solidFill>
              <a:srgbClr val="BF6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#9E1F22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E37777"/>
          </a:solidFill>
          <a:ln w="9525">
            <a:solidFill>
              <a:srgbClr val="EC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#E37777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FF7F4"/>
                </a:solidFill>
                <a:latin typeface="Georgia"/>
                <a:ea typeface="宋体"/>
                <a:cs typeface="Georgia"/>
              </a:rPr>
              <a:t>09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C5BFBD"/>
                </a:solidFill>
                <a:latin typeface="Georgia"/>
                <a:ea typeface="微软雅黑"/>
                <a:cs typeface="Georgia"/>
              </a:rPr>
              <a:t>朱砂　·　zhū shā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C5BFBD"/>
                </a:solidFill>
                <a:latin typeface="Georgia"/>
                <a:ea typeface="楷体"/>
                <a:cs typeface="Georgia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4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A06A56"/>
              </a:gs>
              <a:gs pos="100000">
                <a:srgbClr val="4D281B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B48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B48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AE806F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F5E7DC"/>
                </a:solidFill>
                <a:latin typeface="Georgia"/>
                <a:ea typeface="宋体"/>
                <a:cs typeface="Georgia"/>
              </a:rPr>
              <a:t>赭 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7EDE5"/>
                </a:solidFill>
                <a:latin typeface="Georgia"/>
                <a:ea typeface="宋体"/>
                <a:cs typeface="Georgia"/>
              </a:rPr>
              <a:t>zhě shí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9F1EB"/>
                </a:solidFill>
                <a:latin typeface="Georgia"/>
                <a:ea typeface="微软雅黑"/>
                <a:cs typeface="Georgia"/>
              </a:rPr>
              <a:t>#8C4A32　·　R140 G74 B50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F5E7DC"/>
                </a:solidFill>
                <a:latin typeface="Georgia"/>
                <a:ea typeface="楷体"/>
                <a:cs typeface="Georgia"/>
              </a:rPr>
              <a:t>大地本身的肤色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9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7ECE3"/>
                </a:solidFill>
                <a:latin typeface="Georgia"/>
                <a:ea typeface="楷体"/>
                <a:cs typeface="Georgia"/>
              </a:rPr>
              <a:t>赭者，赤土也。岩壁上的画、夯土的墙、老僧的袈裟，都取此色。它是所有颜色里最沉默、也最古老的一个——早在我们学会命名之前，它就在那里。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A86244"/>
          </a:solidFill>
          <a:ln w="9525">
            <a:solidFill>
              <a:srgbClr val="C69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#A86244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6C3722"/>
          </a:solidFill>
          <a:ln w="9525">
            <a:solidFill>
              <a:srgbClr val="9F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#6C3722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C08E68"/>
          </a:solidFill>
          <a:ln w="9525">
            <a:solidFill>
              <a:srgbClr val="D6B5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#C08E68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8EFE8"/>
                </a:solidFill>
                <a:latin typeface="Georgia"/>
                <a:ea typeface="宋体"/>
                <a:cs typeface="Georgia"/>
              </a:rPr>
              <a:t>10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C0B8B2"/>
                </a:solidFill>
                <a:latin typeface="Georgia"/>
                <a:ea typeface="微软雅黑"/>
                <a:cs typeface="Georgia"/>
              </a:rPr>
              <a:t>赭石　·　zhě shí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C0B8B2"/>
                </a:solidFill>
                <a:latin typeface="Georgia"/>
                <a:ea typeface="楷体"/>
                <a:cs typeface="Georgia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536D85"/>
              </a:gs>
              <a:gs pos="100000">
                <a:srgbClr val="192A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778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778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6C8397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E7EEF4"/>
                </a:solidFill>
                <a:latin typeface="Georgia"/>
                <a:ea typeface="宋体"/>
                <a:cs typeface="Georgia"/>
              </a:rPr>
              <a:t>黛 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EDF2F7"/>
                </a:solidFill>
                <a:latin typeface="Georgia"/>
                <a:ea typeface="宋体"/>
                <a:cs typeface="Georgia"/>
              </a:rPr>
              <a:t>dài lán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1F5F8"/>
                </a:solidFill>
                <a:latin typeface="Georgia"/>
                <a:ea typeface="微软雅黑"/>
                <a:cs typeface="Georgia"/>
              </a:rPr>
              <a:t>#2E4E6B　·　R46 G78 B107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E7EEF4"/>
                </a:solidFill>
                <a:latin typeface="Georgia"/>
                <a:ea typeface="楷体"/>
                <a:cs typeface="Georgia"/>
              </a:rPr>
              <a:t>远山如黛，近水含烟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ECF1F6"/>
                </a:solidFill>
                <a:latin typeface="Georgia"/>
                <a:ea typeface="楷体"/>
                <a:cs typeface="Georgia"/>
              </a:rPr>
              <a:t>黛是女子画眉用的青黑颜料。把它从眉间放回天地，便成了黄昏时远山的轮廓——深、静、退让，退到最远处，才是它真正的位置。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41678A"/>
          </a:solidFill>
          <a:ln w="9525">
            <a:solidFill>
              <a:srgbClr val="83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#41678A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1E3547"/>
          </a:solidFill>
          <a:ln w="9525">
            <a:solidFill>
              <a:srgbClr val="6C7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#1E3547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6E8FA8"/>
          </a:solidFill>
          <a:ln w="9525">
            <a:solidFill>
              <a:srgbClr val="A0B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#6E8FA8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EFF3F7"/>
                </a:solidFill>
                <a:latin typeface="Georgia"/>
                <a:ea typeface="宋体"/>
                <a:cs typeface="Georgia"/>
              </a:rPr>
              <a:t>11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B8BCBF"/>
                </a:solidFill>
                <a:latin typeface="Georgia"/>
                <a:ea typeface="微软雅黑"/>
                <a:cs typeface="Georgia"/>
              </a:rPr>
              <a:t>黛蓝　·　dài lán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8BCBF"/>
                </a:solidFill>
                <a:latin typeface="Georgia"/>
                <a:ea typeface="楷体"/>
                <a:cs typeface="Georgia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575653"/>
              </a:gs>
              <a:gs pos="100000">
                <a:srgbClr val="1C1B19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428750"/>
            <a:ext cx="4476750" cy="4476750"/>
          </a:xfrm>
          <a:prstGeom prst="ellipse">
            <a:avLst/>
          </a:prstGeom>
          <a:noFill/>
          <a:ln w="9525">
            <a:solidFill>
              <a:srgbClr val="7A7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6096000"/>
            <a:ext cx="1714500" cy="1714500"/>
          </a:xfrm>
          <a:prstGeom prst="ellipse">
            <a:avLst/>
          </a:prstGeom>
          <a:noFill/>
          <a:ln w="9525">
            <a:solidFill>
              <a:srgbClr val="7A7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8650" y="6096000"/>
            <a:ext cx="400050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>
                <a:solidFill>
                  <a:srgbClr val="706F6C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047750"/>
            <a:ext cx="1809750" cy="6667500"/>
          </a:xfrm>
          <a:prstGeom prst="rect">
            <a:avLst/>
          </a:prstGeom>
          <a:noFill/>
        </p:spPr>
        <p:txBody>
          <a:bodyPr vert="eaVert" wrap="square" lIns="0" tIns="0" rIns="0" bIns="0" anchor="t">
            <a:spAutoFit/>
          </a:bodyPr>
          <a:lstStyle/>
          <a:p>
            <a:pPr algn="ctr"/>
            <a:r>
              <a:rPr sz="9600" b="0" spc="1344">
                <a:solidFill>
                  <a:srgbClr val="EFE7DA"/>
                </a:solidFill>
                <a:latin typeface="Georgia"/>
                <a:ea typeface="宋体"/>
                <a:cs typeface="Georgia"/>
              </a:rPr>
              <a:t>玄 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742950"/>
            <a:ext cx="3524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0" spc="238">
                <a:solidFill>
                  <a:srgbClr val="F3EDE4"/>
                </a:solidFill>
                <a:latin typeface="Georgia"/>
                <a:ea typeface="宋体"/>
                <a:cs typeface="Georgia"/>
              </a:rPr>
              <a:t>xuán sè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1143000"/>
            <a:ext cx="3524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spc="209">
                <a:solidFill>
                  <a:srgbClr val="F6F1EA"/>
                </a:solidFill>
                <a:latin typeface="Georgia"/>
                <a:ea typeface="微软雅黑"/>
                <a:cs typeface="Georgia"/>
              </a:rPr>
              <a:t>#33322E　·　R51 G50 B46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0" y="1866900"/>
            <a:ext cx="58102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3000" b="0" spc="180">
                <a:solidFill>
                  <a:srgbClr val="EFE7DA"/>
                </a:solidFill>
                <a:latin typeface="Georgia"/>
                <a:ea typeface="楷体"/>
                <a:cs typeface="Georgia"/>
              </a:rPr>
              <a:t>天谓之玄，地谓之黄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77250" y="3810000"/>
            <a:ext cx="609600" cy="1143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7250" y="4095750"/>
            <a:ext cx="5810250" cy="209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300" b="0" spc="39">
                <a:solidFill>
                  <a:srgbClr val="F2ECE2"/>
                </a:solidFill>
                <a:latin typeface="Georgia"/>
                <a:ea typeface="楷体"/>
                <a:cs typeface="Georgia"/>
              </a:rPr>
              <a:t>《千字文》开篇第一句：天地玄黄。玄是黑中透赤，是黎明前最深的那一刻。它并不结束什么——恰恰相反，它开始了一切。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72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4C4A44"/>
          </a:solidFill>
          <a:ln w="9525">
            <a:solidFill>
              <a:srgbClr val="8A8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#4C4A44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54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1F1E1B"/>
          </a:solidFill>
          <a:ln w="9525">
            <a:solidFill>
              <a:srgbClr val="6D6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#1F1E1B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3650" y="6438900"/>
            <a:ext cx="704850" cy="704850"/>
          </a:xfrm>
          <a:prstGeom prst="roundRect">
            <a:avLst>
              <a:gd name="adj" fmla="val 6000"/>
            </a:avLst>
          </a:prstGeom>
          <a:solidFill>
            <a:srgbClr val="6E6B63"/>
          </a:solidFill>
          <a:ln w="9525">
            <a:solidFill>
              <a:srgbClr val="A09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Georgia"/>
                <a:ea typeface="微软雅黑"/>
                <a:cs typeface="Georgia"/>
              </a:rPr>
              <a:t>#6E6B63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spc="260">
                <a:solidFill>
                  <a:srgbClr val="F4EFE6"/>
                </a:solidFill>
                <a:latin typeface="Georgia"/>
                <a:ea typeface="宋体"/>
                <a:cs typeface="Georgia"/>
              </a:rPr>
              <a:t>12　/　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BDB8B1"/>
                </a:solidFill>
                <a:latin typeface="Georgia"/>
                <a:ea typeface="微软雅黑"/>
                <a:cs typeface="Georgia"/>
              </a:rPr>
              <a:t>玄色　·　xuán sè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BDB8B1"/>
                </a:solidFill>
                <a:latin typeface="Georgia"/>
                <a:ea typeface="楷体"/>
                <a:cs typeface="Georgia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3EDDF"/>
              </a:gs>
              <a:gs pos="100000">
                <a:srgbClr val="DCD2BC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952500"/>
            <a:ext cx="5715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spc="736">
                <a:solidFill>
                  <a:srgbClr val="3E3626"/>
                </a:solidFill>
                <a:latin typeface="Georgia"/>
                <a:ea typeface="宋体"/>
                <a:cs typeface="Georgia"/>
              </a:rPr>
              <a:t>色 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050" y="1676400"/>
            <a:ext cx="571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spc="374">
                <a:solidFill>
                  <a:srgbClr val="554F45"/>
                </a:solidFill>
                <a:latin typeface="Georgia"/>
                <a:ea typeface="宋体"/>
                <a:cs typeface="Georgia"/>
              </a:rPr>
              <a:t>THE TWELVE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262626"/>
                </a:solidFill>
                <a:latin typeface="Georgia"/>
                <a:ea typeface="宋体"/>
                <a:cs typeface="Georgia"/>
              </a:rPr>
              <a:t>月白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#D6ECF0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9425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8FB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262626"/>
                </a:solidFill>
                <a:latin typeface="Georgia"/>
                <a:ea typeface="宋体"/>
                <a:cs typeface="Georgia"/>
              </a:rPr>
              <a:t>天青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425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#8FB6B8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6850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7892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竹青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850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#789262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4275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2FA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石绿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275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#2FA379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91700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秋香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1700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#C9A227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49125" y="23812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F0C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262626"/>
                </a:solidFill>
                <a:latin typeface="Georgia"/>
                <a:ea typeface="宋体"/>
                <a:cs typeface="Georgia"/>
              </a:rPr>
              <a:t>缃色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49125" y="42862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#F0C239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E4C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262626"/>
                </a:solidFill>
                <a:latin typeface="Georgia"/>
                <a:ea typeface="宋体"/>
                <a:cs typeface="Georgia"/>
              </a:rPr>
              <a:t>藕荷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#E4C6D0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9425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胭脂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9425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#9D2933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6850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朱砂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850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#C3272B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275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8C4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赭石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275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#8C4A32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91700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2E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黛蓝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1700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#2E4E6B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049125" y="4857750"/>
            <a:ext cx="2028825" cy="1809750"/>
          </a:xfrm>
          <a:prstGeom prst="roundRect">
            <a:avLst>
              <a:gd name="adj" fmla="val 4000"/>
            </a:avLst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/>
          <a:lstStyle/>
          <a:p>
            <a:pPr algn="ctr"/>
            <a:r>
              <a:rPr sz="1800" b="0" spc="252">
                <a:solidFill>
                  <a:srgbClr val="FFFFFF"/>
                </a:solidFill>
                <a:latin typeface="Georgia"/>
                <a:ea typeface="宋体"/>
                <a:cs typeface="Georgia"/>
              </a:rPr>
              <a:t>玄色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49125" y="6762750"/>
            <a:ext cx="20288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spc="100">
                <a:solidFill>
                  <a:srgbClr val="554F45"/>
                </a:solidFill>
                <a:latin typeface="Georgia"/>
                <a:ea typeface="微软雅黑"/>
                <a:cs typeface="Georgia"/>
              </a:rPr>
              <a:t>#33322E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5B574E"/>
                </a:solidFill>
                <a:latin typeface="Georgia"/>
                <a:ea typeface="微软雅黑"/>
                <a:cs typeface="Georgia"/>
              </a:rPr>
              <a:t>东方色谱 · ORIENTAL PALETTE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5B574E"/>
                </a:solidFill>
                <a:latin typeface="Georgia"/>
                <a:ea typeface="楷体"/>
                <a:cs typeface="Georgia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232120"/>
              </a:gs>
              <a:gs pos="100000">
                <a:srgbClr val="0F0E0D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143250"/>
            <a:ext cx="1524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90000"/>
              </a:lnSpc>
            </a:pPr>
            <a:r>
              <a:rPr sz="3400" b="0" spc="544">
                <a:solidFill>
                  <a:srgbClr val="F0E9DC"/>
                </a:solidFill>
                <a:latin typeface="Georgia"/>
                <a:ea typeface="楷体"/>
                <a:cs typeface="Georgia"/>
              </a:rPr>
              <a:t>愿你此后看天、看水、看一面旧墙，</a:t>
            </a:r>
          </a:p>
          <a:p>
            <a:pPr algn="ctr">
              <a:lnSpc>
                <a:spcPct val="190000"/>
              </a:lnSpc>
            </a:pPr>
            <a:r>
              <a:rPr sz="3400" b="0" spc="544">
                <a:solidFill>
                  <a:srgbClr val="F0E9DC"/>
                </a:solidFill>
                <a:latin typeface="Georgia"/>
                <a:ea typeface="楷体"/>
                <a:cs typeface="Georgia"/>
              </a:rPr>
              <a:t>都能叫出它们的名字。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619750"/>
            <a:ext cx="1524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spc="598">
                <a:solidFill>
                  <a:srgbClr val="8E8677"/>
                </a:solidFill>
                <a:latin typeface="Georgia"/>
                <a:ea typeface="宋体"/>
                <a:cs typeface="Georgia"/>
              </a:rPr>
              <a:t>THANK YOU FOR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5240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spc="220">
                <a:solidFill>
                  <a:srgbClr val="6B6559"/>
                </a:solidFill>
                <a:latin typeface="Georgia"/>
                <a:ea typeface="微软雅黑"/>
                <a:cs typeface="Georgia"/>
              </a:rPr>
              <a:t>《东方色谱》 · 十二种中国传统色 · 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077200"/>
            <a:ext cx="6667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44">
                <a:solidFill>
                  <a:srgbClr val="87837B"/>
                </a:solidFill>
                <a:latin typeface="Georgia"/>
                <a:ea typeface="微软雅黑"/>
                <a:cs typeface="Georgia"/>
              </a:rPr>
              <a:t>东方色谱 · ORIENTAL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25500" y="8077200"/>
            <a:ext cx="114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spc="180">
                <a:solidFill>
                  <a:srgbClr val="87837B"/>
                </a:solidFill>
                <a:latin typeface="Georgia"/>
                <a:ea typeface="楷体"/>
                <a:cs typeface="Georgia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882</Words>
  <Application>Microsoft Office PowerPoint</Application>
  <PresentationFormat>自定义</PresentationFormat>
  <Paragraphs>217</Paragraphs>
  <Slides>16</Slides>
  <Notes>16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yiyi chen</cp:lastModifiedBy>
  <cp:revision>3</cp:revision>
  <dcterms:created xsi:type="dcterms:W3CDTF">2013-01-27T09:14:16Z</dcterms:created>
  <dcterms:modified xsi:type="dcterms:W3CDTF">2026-10-15T13:37:51Z</dcterms:modified>
  <cp:category/>
</cp:coreProperties>
</file>